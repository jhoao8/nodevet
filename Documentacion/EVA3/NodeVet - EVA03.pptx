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Montserrat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  <p:embeddedFont>
      <p:font typeface="Montserrat Black"/>
      <p:bold r:id="rId26"/>
      <p:boldItalic r:id="rId27"/>
    </p:embeddedFont>
    <p:embeddedFont>
      <p:font typeface="Oswal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Lato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Black-bold.fntdata"/><Relationship Id="rId25" Type="http://schemas.openxmlformats.org/officeDocument/2006/relationships/font" Target="fonts/Lato-boldItalic.fntdata"/><Relationship Id="rId28" Type="http://schemas.openxmlformats.org/officeDocument/2006/relationships/font" Target="fonts/Oswald-regular.fntdata"/><Relationship Id="rId27" Type="http://schemas.openxmlformats.org/officeDocument/2006/relationships/font" Target="fonts/MontserratBlack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swa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6e1246b3e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96e1246b3e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8b8bbf5e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a8b8bbf5e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1acd0cd15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f1acd0cd15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1acf464fa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3f1acf464f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1acd0cd15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f1acd0cd15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1acd0cd15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f1acd0cd15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1acd0cd15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f1acd0cd15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1acf464fa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f1acf464fa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1acd0cd15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f1acd0cd15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f1acd0cd15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f1acd0cd15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1acd0cd15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f1acd0cd15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001B0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rgbClr val="4164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rgbClr val="9EB5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BEFBA"/>
              </a:buClr>
              <a:buSzPts val="4000"/>
              <a:buNone/>
              <a:defRPr sz="4000">
                <a:solidFill>
                  <a:srgbClr val="FBEFB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EFBA"/>
              </a:buClr>
              <a:buSzPts val="1300"/>
              <a:buNone/>
              <a:defRPr>
                <a:solidFill>
                  <a:srgbClr val="FBEFBA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9EB5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4164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4164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9EB5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4164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9EB5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4164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9EB5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4164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9EB5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9EB5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4164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4164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9EB5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1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1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9EB5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4164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rgbClr val="001B0D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BEFBA"/>
              </a:buClr>
              <a:buSzPts val="2800"/>
              <a:buFont typeface="Montserrat"/>
              <a:buNone/>
              <a:defRPr sz="2800">
                <a:solidFill>
                  <a:srgbClr val="FBEFB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1.png"/><Relationship Id="rId6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jpg"/><Relationship Id="rId4" Type="http://schemas.openxmlformats.org/officeDocument/2006/relationships/image" Target="../media/image1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Relationship Id="rId4" Type="http://schemas.openxmlformats.org/officeDocument/2006/relationships/image" Target="../media/image1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2073900" cy="8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swald"/>
                <a:ea typeface="Oswald"/>
                <a:cs typeface="Oswald"/>
                <a:sym typeface="Oswald"/>
              </a:rPr>
              <a:t>NodeVet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4794291" y="3157300"/>
            <a:ext cx="3445500" cy="17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Aranda Cárdenas, Catalina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Cruz </a:t>
            </a: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Muñoz</a:t>
            </a: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, Ricardo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Santander Leal, Sebastián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Andrade Farias, Victor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Taller aplicado de programación </a:t>
            </a: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001D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23/06/</a:t>
            </a: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6" name="Google Shape;136;p13" title="Logo_NodeVet_Image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6213" y="963200"/>
            <a:ext cx="1933575" cy="19335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3"/>
          <p:cNvSpPr txBox="1"/>
          <p:nvPr>
            <p:ph idx="1" type="subTitle"/>
          </p:nvPr>
        </p:nvSpPr>
        <p:spPr>
          <a:xfrm>
            <a:off x="3037600" y="3157300"/>
            <a:ext cx="1795500" cy="17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Integrantes: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45720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Docente: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Asignatura: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Presentación: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"/>
          <p:cNvSpPr txBox="1"/>
          <p:nvPr>
            <p:ph type="title"/>
          </p:nvPr>
        </p:nvSpPr>
        <p:spPr>
          <a:xfrm>
            <a:off x="1121400" y="3277100"/>
            <a:ext cx="35109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400">
                <a:latin typeface="Oswald"/>
                <a:ea typeface="Oswald"/>
                <a:cs typeface="Oswald"/>
                <a:sym typeface="Oswald"/>
              </a:rPr>
              <a:t>Fase</a:t>
            </a:r>
            <a:r>
              <a:rPr lang="es" sz="2400">
                <a:latin typeface="Oswald"/>
                <a:ea typeface="Oswald"/>
                <a:cs typeface="Oswald"/>
                <a:sym typeface="Oswald"/>
              </a:rPr>
              <a:t> 3: </a:t>
            </a:r>
            <a:endParaRPr sz="24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400">
                <a:latin typeface="Oswald"/>
                <a:ea typeface="Oswald"/>
                <a:cs typeface="Oswald"/>
                <a:sym typeface="Oswald"/>
              </a:rPr>
              <a:t>Probando el software</a:t>
            </a:r>
            <a:endParaRPr sz="2400"/>
          </a:p>
        </p:txBody>
      </p:sp>
      <p:pic>
        <p:nvPicPr>
          <p:cNvPr id="143" name="Google Shape;14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5300" y="725500"/>
            <a:ext cx="1963100" cy="235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swald"/>
                <a:ea typeface="Oswald"/>
                <a:cs typeface="Oswald"/>
                <a:sym typeface="Oswald"/>
              </a:rPr>
              <a:t>Introducción: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49" name="Google Shape;14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250" y="1839200"/>
            <a:ext cx="3774976" cy="20588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" name="Google Shape;150;p15"/>
          <p:cNvGrpSpPr/>
          <p:nvPr/>
        </p:nvGrpSpPr>
        <p:grpSpPr>
          <a:xfrm>
            <a:off x="4083925" y="1455900"/>
            <a:ext cx="4944200" cy="2699025"/>
            <a:chOff x="4083925" y="1455900"/>
            <a:chExt cx="4944200" cy="2699025"/>
          </a:xfrm>
        </p:grpSpPr>
        <p:pic>
          <p:nvPicPr>
            <p:cNvPr id="151" name="Google Shape;151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083925" y="1455900"/>
              <a:ext cx="4944200" cy="26990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" name="Google Shape;152;p15"/>
            <p:cNvSpPr/>
            <p:nvPr/>
          </p:nvSpPr>
          <p:spPr>
            <a:xfrm>
              <a:off x="8686375" y="3840550"/>
              <a:ext cx="322200" cy="253800"/>
            </a:xfrm>
            <a:prstGeom prst="ellipse">
              <a:avLst/>
            </a:prstGeom>
            <a:solidFill>
              <a:srgbClr val="001B0D"/>
            </a:solidFill>
            <a:ln cap="flat" cmpd="sng" w="9525">
              <a:solidFill>
                <a:srgbClr val="001B0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/>
          <p:nvPr>
            <p:ph type="title"/>
          </p:nvPr>
        </p:nvSpPr>
        <p:spPr>
          <a:xfrm>
            <a:off x="1581150" y="839175"/>
            <a:ext cx="2338200" cy="5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swald"/>
                <a:ea typeface="Oswald"/>
                <a:cs typeface="Oswald"/>
                <a:sym typeface="Oswald"/>
              </a:rPr>
              <a:t>Entorno de Testing</a:t>
            </a:r>
            <a:r>
              <a:rPr lang="es">
                <a:latin typeface="Oswald"/>
                <a:ea typeface="Oswald"/>
                <a:cs typeface="Oswald"/>
                <a:sym typeface="Oswald"/>
              </a:rPr>
              <a:t>: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8" name="Google Shape;158;p16"/>
          <p:cNvSpPr txBox="1"/>
          <p:nvPr>
            <p:ph type="title"/>
          </p:nvPr>
        </p:nvSpPr>
        <p:spPr>
          <a:xfrm>
            <a:off x="5216250" y="882400"/>
            <a:ext cx="1753800" cy="5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swald"/>
                <a:ea typeface="Oswald"/>
                <a:cs typeface="Oswald"/>
                <a:sym typeface="Oswald"/>
              </a:rPr>
              <a:t>Herramientas</a:t>
            </a:r>
            <a:r>
              <a:rPr lang="es">
                <a:latin typeface="Oswald"/>
                <a:ea typeface="Oswald"/>
                <a:cs typeface="Oswald"/>
                <a:sym typeface="Oswald"/>
              </a:rPr>
              <a:t>: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59" name="Google Shape;15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2413" y="1576350"/>
            <a:ext cx="1801900" cy="87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2275" y="1460788"/>
            <a:ext cx="1110975" cy="111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9800" y="2528525"/>
            <a:ext cx="1272925" cy="127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1788" y="1533125"/>
            <a:ext cx="1801900" cy="87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08075" y="1336575"/>
            <a:ext cx="1272925" cy="127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"/>
          <p:cNvSpPr txBox="1"/>
          <p:nvPr>
            <p:ph type="title"/>
          </p:nvPr>
        </p:nvSpPr>
        <p:spPr>
          <a:xfrm>
            <a:off x="1297500" y="393750"/>
            <a:ext cx="28563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>
                <a:latin typeface="Oswald"/>
                <a:ea typeface="Oswald"/>
                <a:cs typeface="Oswald"/>
                <a:sym typeface="Oswald"/>
              </a:rPr>
              <a:t>Requisitos Involucrados: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489400" y="1591078"/>
            <a:ext cx="3886200" cy="23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s" sz="1700" u="none" cap="none" strike="noStrike">
                <a:solidFill>
                  <a:srgbClr val="FBEFBA"/>
                </a:solidFill>
                <a:latin typeface="Oswald"/>
                <a:ea typeface="Oswald"/>
                <a:cs typeface="Oswald"/>
                <a:sym typeface="Oswald"/>
              </a:rPr>
              <a:t>Funcionales (RF)</a:t>
            </a:r>
            <a:endParaRPr/>
          </a:p>
          <a:p>
            <a:pPr indent="-274320" lvl="0" marL="27432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BEFBA"/>
              </a:buClr>
              <a:buSzPts val="1400"/>
              <a:buFont typeface="Arial"/>
              <a:buChar char="•"/>
            </a:pPr>
            <a:r>
              <a:rPr b="0" i="0" lang="es" sz="1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Autenticación: </a:t>
            </a:r>
            <a:endParaRPr b="0" i="0" sz="1400" u="none" cap="none" strike="noStrike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4320" lvl="0" marL="27432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BEFBA"/>
              </a:buClr>
              <a:buSzPts val="1400"/>
              <a:buFont typeface="Arial"/>
              <a:buChar char="•"/>
            </a:pPr>
            <a:r>
              <a:rPr b="0" i="0" lang="es" sz="1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RF-01, RF-06, RF-07</a:t>
            </a:r>
            <a:endParaRPr/>
          </a:p>
          <a:p>
            <a:pPr indent="-274320" lvl="0" marL="27432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BEFBA"/>
              </a:buClr>
              <a:buSzPts val="1400"/>
              <a:buFont typeface="Arial"/>
              <a:buChar char="•"/>
            </a:pPr>
            <a:r>
              <a:rPr b="0" i="0" lang="es" sz="1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Perfiles: RF-02, RF-04, RF-05</a:t>
            </a:r>
            <a:endParaRPr/>
          </a:p>
          <a:p>
            <a:pPr indent="-274320" lvl="0" marL="27432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BEFBA"/>
              </a:buClr>
              <a:buSzPts val="1400"/>
              <a:buFont typeface="Arial"/>
              <a:buChar char="•"/>
            </a:pPr>
            <a:r>
              <a:rPr b="0" i="0" lang="es" sz="1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Mascotas: RF-03, RF-08, RF-09, RF-18</a:t>
            </a:r>
            <a:endParaRPr/>
          </a:p>
          <a:p>
            <a:pPr indent="-274320" lvl="0" marL="27432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BEFBA"/>
              </a:buClr>
              <a:buSzPts val="1400"/>
              <a:buFont typeface="Arial"/>
              <a:buChar char="•"/>
            </a:pPr>
            <a:r>
              <a:rPr b="0" i="0" lang="es" sz="1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Agenda y citas: RF-13, RF-20, RF-21</a:t>
            </a:r>
            <a:endParaRPr/>
          </a:p>
          <a:p>
            <a:pPr indent="-274320" lvl="0" marL="27432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BEFBA"/>
              </a:buClr>
              <a:buSzPts val="1400"/>
              <a:buFont typeface="Arial"/>
              <a:buChar char="•"/>
            </a:pPr>
            <a:r>
              <a:rPr b="0" i="0" lang="es" sz="1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Clínico: RF-14, RF-16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4572000" y="1591077"/>
            <a:ext cx="3977700" cy="28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s" sz="1700" u="none" cap="none" strike="noStrike">
                <a:solidFill>
                  <a:srgbClr val="FBEFBA"/>
                </a:solidFill>
                <a:latin typeface="Oswald"/>
                <a:ea typeface="Oswald"/>
                <a:cs typeface="Oswald"/>
                <a:sym typeface="Oswald"/>
              </a:rPr>
              <a:t>No Funcionales (RNF)</a:t>
            </a:r>
            <a:endParaRPr/>
          </a:p>
          <a:p>
            <a:pPr indent="-274320" lvl="0" marL="27432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BEFBA"/>
              </a:buClr>
              <a:buSzPts val="1400"/>
              <a:buFont typeface="Arial"/>
              <a:buChar char="•"/>
            </a:pPr>
            <a:r>
              <a:rPr b="0" i="0" lang="es" sz="1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Seguridad: RNF-2.1, 2.2 (hashing, JWT)</a:t>
            </a:r>
            <a:endParaRPr/>
          </a:p>
          <a:p>
            <a:pPr indent="-274320" lvl="0" marL="27432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BEFBA"/>
              </a:buClr>
              <a:buSzPts val="1400"/>
              <a:buFont typeface="Arial"/>
              <a:buChar char="•"/>
            </a:pPr>
            <a:r>
              <a:rPr b="0" i="0" lang="es" sz="1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Usabilidad: RNF-3.2, 3.3</a:t>
            </a:r>
            <a:endParaRPr/>
          </a:p>
          <a:p>
            <a:pPr indent="-274320" lvl="0" marL="27432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BEFBA"/>
              </a:buClr>
              <a:buSzPts val="1400"/>
              <a:buFont typeface="Arial"/>
              <a:buChar char="•"/>
            </a:pPr>
            <a:r>
              <a:rPr b="0" i="0" lang="es" sz="1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Multiplataforma: RNF-4.1</a:t>
            </a:r>
            <a:endParaRPr/>
          </a:p>
          <a:p>
            <a:pPr indent="-274320" lvl="0" marL="27432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BEFBA"/>
              </a:buClr>
              <a:buSzPts val="1400"/>
              <a:buFont typeface="Arial"/>
              <a:buChar char="•"/>
            </a:pPr>
            <a:r>
              <a:rPr b="0" i="0" lang="es" sz="1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Pagos: RNF-6.2, 11.1, 12.2</a:t>
            </a:r>
            <a:endParaRPr/>
          </a:p>
          <a:p>
            <a:pPr indent="-274320" lvl="0" marL="27432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BEFBA"/>
              </a:buClr>
              <a:buSzPts val="1400"/>
              <a:buFont typeface="Arial"/>
              <a:buChar char="•"/>
            </a:pPr>
            <a:r>
              <a:rPr b="0" i="0" lang="es" sz="1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Integridad de datos: RNF-7.1, 7.2, 7.3</a:t>
            </a:r>
            <a:endParaRPr/>
          </a:p>
          <a:p>
            <a:pPr indent="-274320" lvl="0" marL="27432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BEFBA"/>
              </a:buClr>
              <a:buSzPts val="1400"/>
              <a:buFont typeface="Arial"/>
              <a:buChar char="•"/>
            </a:pPr>
            <a:r>
              <a:rPr b="0" i="0" lang="es" sz="1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Validación y errores: RNF-13.2, 13.3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8"/>
          <p:cNvSpPr txBox="1"/>
          <p:nvPr>
            <p:ph type="title"/>
          </p:nvPr>
        </p:nvSpPr>
        <p:spPr>
          <a:xfrm>
            <a:off x="3143850" y="372150"/>
            <a:ext cx="2856300" cy="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swald"/>
                <a:ea typeface="Oswald"/>
                <a:cs typeface="Oswald"/>
                <a:sym typeface="Oswald"/>
              </a:rPr>
              <a:t>Alcance de las pruebas: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6" name="Google Shape;176;p18"/>
          <p:cNvSpPr txBox="1"/>
          <p:nvPr>
            <p:ph type="title"/>
          </p:nvPr>
        </p:nvSpPr>
        <p:spPr>
          <a:xfrm>
            <a:off x="2156850" y="1571750"/>
            <a:ext cx="987000" cy="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swald"/>
                <a:ea typeface="Oswald"/>
                <a:cs typeface="Oswald"/>
                <a:sym typeface="Oswald"/>
              </a:rPr>
              <a:t>Dentro: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7" name="Google Shape;177;p18"/>
          <p:cNvSpPr txBox="1"/>
          <p:nvPr>
            <p:ph type="title"/>
          </p:nvPr>
        </p:nvSpPr>
        <p:spPr>
          <a:xfrm>
            <a:off x="6000150" y="1571750"/>
            <a:ext cx="987000" cy="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swald"/>
                <a:ea typeface="Oswald"/>
                <a:cs typeface="Oswald"/>
                <a:sym typeface="Oswald"/>
              </a:rPr>
              <a:t>Fuera</a:t>
            </a:r>
            <a:r>
              <a:rPr lang="es">
                <a:latin typeface="Oswald"/>
                <a:ea typeface="Oswald"/>
                <a:cs typeface="Oswald"/>
                <a:sym typeface="Oswald"/>
              </a:rPr>
              <a:t>: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2156850" y="1571750"/>
            <a:ext cx="987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FBEFBA"/>
                </a:solidFill>
                <a:latin typeface="Oswald"/>
                <a:ea typeface="Oswald"/>
                <a:cs typeface="Oswald"/>
                <a:sym typeface="Oswald"/>
              </a:rPr>
              <a:t>Dentro:</a:t>
            </a:r>
            <a:endParaRPr sz="2400">
              <a:solidFill>
                <a:srgbClr val="FBEFB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6000150" y="1571750"/>
            <a:ext cx="987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FBEFBA"/>
                </a:solidFill>
                <a:latin typeface="Oswald"/>
                <a:ea typeface="Oswald"/>
                <a:cs typeface="Oswald"/>
                <a:sym typeface="Oswald"/>
              </a:rPr>
              <a:t>Fuera:</a:t>
            </a:r>
            <a:endParaRPr sz="2400">
              <a:solidFill>
                <a:srgbClr val="FBEFB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1051560" y="2240280"/>
            <a:ext cx="36576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74320" lvl="0" marL="27432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BEFBA"/>
              </a:buClr>
              <a:buSzPts val="1400"/>
              <a:buFont typeface="Arial"/>
              <a:buChar char="•"/>
            </a:pPr>
            <a:r>
              <a:rPr b="0" i="0" lang="es" sz="1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Autenticación (login, registro, recuperación)</a:t>
            </a:r>
            <a:endParaRPr/>
          </a:p>
          <a:p>
            <a:pPr indent="-274320" lvl="0" marL="27432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BEFBA"/>
              </a:buClr>
              <a:buSzPts val="1400"/>
              <a:buFont typeface="Arial"/>
              <a:buChar char="•"/>
            </a:pPr>
            <a:r>
              <a:rPr b="0" i="0" lang="es" sz="1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CRUD de Mascotas + soft delete</a:t>
            </a:r>
            <a:endParaRPr/>
          </a:p>
          <a:p>
            <a:pPr indent="-274320" lvl="0" marL="27432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BEFBA"/>
              </a:buClr>
              <a:buSzPts val="1400"/>
              <a:buFont typeface="Arial"/>
              <a:buChar char="•"/>
            </a:pPr>
            <a:r>
              <a:rPr b="0" i="0" lang="es" sz="1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Veterinarios y Especialidades</a:t>
            </a:r>
            <a:endParaRPr/>
          </a:p>
          <a:p>
            <a:pPr indent="-274320" lvl="0" marL="27432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BEFBA"/>
              </a:buClr>
              <a:buSzPts val="1400"/>
              <a:buFont typeface="Arial"/>
              <a:buChar char="•"/>
            </a:pPr>
            <a:r>
              <a:rPr b="0" i="0" lang="es" sz="1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Gestión de Usuarios (Admin)</a:t>
            </a:r>
            <a:endParaRPr/>
          </a:p>
          <a:p>
            <a:pPr indent="-274320" lvl="0" marL="27432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BEFBA"/>
              </a:buClr>
              <a:buSzPts val="1400"/>
              <a:buFont typeface="Arial"/>
              <a:buChar char="•"/>
            </a:pPr>
            <a:r>
              <a:rPr b="0" i="0" lang="es" sz="1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Generación de Agenda (jornadas y bloques)</a:t>
            </a:r>
            <a:endParaRPr/>
          </a:p>
          <a:p>
            <a:pPr indent="-274320" lvl="0" marL="27432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BEFBA"/>
              </a:buClr>
              <a:buSzPts val="1400"/>
              <a:buFont typeface="Arial"/>
              <a:buChar char="•"/>
            </a:pPr>
            <a:r>
              <a:rPr b="0" i="0" lang="es" sz="1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Agendamiento, Pagos (Flow) y Consultas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4937760" y="2240280"/>
            <a:ext cx="36120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74320" lvl="0" marL="27432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BEFBA"/>
              </a:buClr>
              <a:buSzPts val="1400"/>
              <a:buFont typeface="Arial"/>
              <a:buChar char="•"/>
            </a:pPr>
            <a:r>
              <a:rPr b="0" i="0" lang="es" sz="1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Pruebas automatizadas (unit / E2E)</a:t>
            </a:r>
            <a:endParaRPr/>
          </a:p>
          <a:p>
            <a:pPr indent="-274320" lvl="0" marL="27432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BEFBA"/>
              </a:buClr>
              <a:buSzPts val="1400"/>
              <a:buFont typeface="Arial"/>
              <a:buChar char="•"/>
            </a:pPr>
            <a:r>
              <a:rPr b="0" i="0" lang="es" sz="1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Carga y rendimiento</a:t>
            </a:r>
            <a:endParaRPr/>
          </a:p>
          <a:p>
            <a:pPr indent="-274320" lvl="0" marL="27432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BEFBA"/>
              </a:buClr>
              <a:buSzPts val="1400"/>
              <a:buFont typeface="Arial"/>
              <a:buChar char="•"/>
            </a:pPr>
            <a:r>
              <a:rPr b="0" i="0" lang="es" sz="1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Dashboards aún no finalizados</a:t>
            </a:r>
            <a:endParaRPr/>
          </a:p>
          <a:p>
            <a:pPr indent="-274320" lvl="0" marL="27432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BEFBA"/>
              </a:buClr>
              <a:buSzPts val="1400"/>
              <a:buFont typeface="Arial"/>
              <a:buChar char="•"/>
            </a:pPr>
            <a:r>
              <a:rPr b="0" i="0" lang="es" sz="1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Notificaciones push</a:t>
            </a:r>
            <a:endParaRPr/>
          </a:p>
          <a:p>
            <a:pPr indent="-274320" lvl="0" marL="27432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BEFBA"/>
              </a:buClr>
              <a:buSzPts val="1400"/>
              <a:buFont typeface="Arial"/>
              <a:buChar char="•"/>
            </a:pPr>
            <a:r>
              <a:rPr b="0" i="0" lang="es" sz="1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Compatibilidad exhaustiva de navegadores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9"/>
          <p:cNvSpPr txBox="1"/>
          <p:nvPr>
            <p:ph type="title"/>
          </p:nvPr>
        </p:nvSpPr>
        <p:spPr>
          <a:xfrm>
            <a:off x="3370800" y="372150"/>
            <a:ext cx="2402400" cy="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swald"/>
                <a:ea typeface="Oswald"/>
                <a:cs typeface="Oswald"/>
                <a:sym typeface="Oswald"/>
              </a:rPr>
              <a:t>Ejemplos de prueba</a:t>
            </a:r>
            <a:r>
              <a:rPr lang="es">
                <a:latin typeface="Oswald"/>
                <a:ea typeface="Oswald"/>
                <a:cs typeface="Oswald"/>
                <a:sym typeface="Oswald"/>
              </a:rPr>
              <a:t>: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7" name="Google Shape;187;p19"/>
          <p:cNvSpPr txBox="1"/>
          <p:nvPr>
            <p:ph type="title"/>
          </p:nvPr>
        </p:nvSpPr>
        <p:spPr>
          <a:xfrm>
            <a:off x="1191100" y="972150"/>
            <a:ext cx="1213800" cy="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swald"/>
                <a:ea typeface="Oswald"/>
                <a:cs typeface="Oswald"/>
                <a:sym typeface="Oswald"/>
              </a:rPr>
              <a:t>Backend: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88" name="Google Shape;18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1325" y="1520925"/>
            <a:ext cx="6201325" cy="33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1325" y="1976050"/>
            <a:ext cx="6201325" cy="235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71325" y="4459346"/>
            <a:ext cx="6201326" cy="3276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0"/>
          <p:cNvSpPr txBox="1"/>
          <p:nvPr>
            <p:ph type="title"/>
          </p:nvPr>
        </p:nvSpPr>
        <p:spPr>
          <a:xfrm>
            <a:off x="3370800" y="372150"/>
            <a:ext cx="2402400" cy="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swald"/>
                <a:ea typeface="Oswald"/>
                <a:cs typeface="Oswald"/>
                <a:sym typeface="Oswald"/>
              </a:rPr>
              <a:t>Ejemplos de prueba: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96" name="Google Shape;196;p20"/>
          <p:cNvSpPr txBox="1"/>
          <p:nvPr>
            <p:ph type="title"/>
          </p:nvPr>
        </p:nvSpPr>
        <p:spPr>
          <a:xfrm>
            <a:off x="4009550" y="972150"/>
            <a:ext cx="879000" cy="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swald"/>
                <a:ea typeface="Oswald"/>
                <a:cs typeface="Oswald"/>
                <a:sym typeface="Oswald"/>
              </a:rPr>
              <a:t>Móvil: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97" name="Google Shape;197;p20" title="CP 41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8750" y="220000"/>
            <a:ext cx="2177415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 title="CP 41-2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24250" y="220000"/>
            <a:ext cx="2177415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3761900" y="1572150"/>
            <a:ext cx="13743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Caso de Prueba</a:t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41</a:t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 txBox="1"/>
          <p:nvPr>
            <p:ph type="title"/>
          </p:nvPr>
        </p:nvSpPr>
        <p:spPr>
          <a:xfrm>
            <a:off x="3370800" y="372150"/>
            <a:ext cx="2402400" cy="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swald"/>
                <a:ea typeface="Oswald"/>
                <a:cs typeface="Oswald"/>
                <a:sym typeface="Oswald"/>
              </a:rPr>
              <a:t>Ejemplos de prueba: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05" name="Google Shape;205;p21"/>
          <p:cNvSpPr txBox="1"/>
          <p:nvPr>
            <p:ph type="title"/>
          </p:nvPr>
        </p:nvSpPr>
        <p:spPr>
          <a:xfrm>
            <a:off x="4009550" y="972150"/>
            <a:ext cx="879000" cy="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swald"/>
                <a:ea typeface="Oswald"/>
                <a:cs typeface="Oswald"/>
                <a:sym typeface="Oswald"/>
              </a:rPr>
              <a:t>Móvil: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3761900" y="1572150"/>
            <a:ext cx="13743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Caso de Prueba</a:t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42</a:t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07" name="Google Shape;207;p21" title="CP 42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2700" y="152400"/>
            <a:ext cx="2177415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1" title="CP 42-2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3200" y="152400"/>
            <a:ext cx="2177415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2"/>
          <p:cNvSpPr txBox="1"/>
          <p:nvPr>
            <p:ph type="title"/>
          </p:nvPr>
        </p:nvSpPr>
        <p:spPr>
          <a:xfrm>
            <a:off x="3370800" y="372150"/>
            <a:ext cx="2402400" cy="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swald"/>
                <a:ea typeface="Oswald"/>
                <a:cs typeface="Oswald"/>
                <a:sym typeface="Oswald"/>
              </a:rPr>
              <a:t>Ejemplos de prueba: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14" name="Google Shape;214;p22"/>
          <p:cNvSpPr txBox="1"/>
          <p:nvPr>
            <p:ph type="title"/>
          </p:nvPr>
        </p:nvSpPr>
        <p:spPr>
          <a:xfrm>
            <a:off x="1191100" y="972150"/>
            <a:ext cx="879000" cy="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swald"/>
                <a:ea typeface="Oswald"/>
                <a:cs typeface="Oswald"/>
                <a:sym typeface="Oswald"/>
              </a:rPr>
              <a:t>Web</a:t>
            </a:r>
            <a:r>
              <a:rPr lang="es">
                <a:latin typeface="Oswald"/>
                <a:ea typeface="Oswald"/>
                <a:cs typeface="Oswald"/>
                <a:sym typeface="Oswald"/>
              </a:rPr>
              <a:t>: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15" name="Google Shape;215;p22" title="4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3488" y="1471850"/>
            <a:ext cx="2678941" cy="2422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2" title="3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725" y="1471850"/>
            <a:ext cx="2509099" cy="242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2" title="4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74100" y="1243625"/>
            <a:ext cx="2883851" cy="125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2" title="43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74100" y="2533825"/>
            <a:ext cx="2509100" cy="249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3"/>
          <p:cNvSpPr txBox="1"/>
          <p:nvPr>
            <p:ph type="title"/>
          </p:nvPr>
        </p:nvSpPr>
        <p:spPr>
          <a:xfrm>
            <a:off x="3160350" y="372150"/>
            <a:ext cx="2823300" cy="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swald"/>
                <a:ea typeface="Oswald"/>
                <a:cs typeface="Oswald"/>
                <a:sym typeface="Oswald"/>
              </a:rPr>
              <a:t>Demostración Práctica: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24" name="Google Shape;22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2425" y="1465375"/>
            <a:ext cx="5319148" cy="290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3"/>
          <p:cNvSpPr/>
          <p:nvPr/>
        </p:nvSpPr>
        <p:spPr>
          <a:xfrm>
            <a:off x="6900300" y="4040600"/>
            <a:ext cx="219600" cy="258600"/>
          </a:xfrm>
          <a:prstGeom prst="ellipse">
            <a:avLst/>
          </a:prstGeom>
          <a:solidFill>
            <a:srgbClr val="B4D7EA"/>
          </a:solidFill>
          <a:ln cap="flat" cmpd="sng" w="9525">
            <a:solidFill>
              <a:srgbClr val="B4D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4"/>
          <p:cNvSpPr txBox="1"/>
          <p:nvPr>
            <p:ph type="title"/>
          </p:nvPr>
        </p:nvSpPr>
        <p:spPr>
          <a:xfrm>
            <a:off x="3821550" y="382950"/>
            <a:ext cx="1500900" cy="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swald"/>
                <a:ea typeface="Oswald"/>
                <a:cs typeface="Oswald"/>
                <a:sym typeface="Oswald"/>
              </a:rPr>
              <a:t>Conclusión: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31" name="Google Shape;23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0450" y="1393888"/>
            <a:ext cx="1963100" cy="235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