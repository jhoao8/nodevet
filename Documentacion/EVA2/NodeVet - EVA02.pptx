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Montserrat Black"/>
      <p:bold r:id="rId44"/>
      <p:boldItalic r:id="rId45"/>
    </p:embeddedFont>
    <p:embeddedFont>
      <p:font typeface="Oswal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E622D2-211B-4954-A749-5D0755CA9E99}">
  <a:tblStyle styleId="{63E622D2-211B-4954-A749-5D0755CA9E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4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6.xml"/><Relationship Id="rId44" Type="http://schemas.openxmlformats.org/officeDocument/2006/relationships/font" Target="fonts/MontserratBlack-bold.fntdata"/><Relationship Id="rId21" Type="http://schemas.openxmlformats.org/officeDocument/2006/relationships/slide" Target="slides/slide15.xml"/><Relationship Id="rId43" Type="http://schemas.openxmlformats.org/officeDocument/2006/relationships/font" Target="fonts/Lato-boldItalic.fntdata"/><Relationship Id="rId24" Type="http://schemas.openxmlformats.org/officeDocument/2006/relationships/slide" Target="slides/slide18.xml"/><Relationship Id="rId46" Type="http://schemas.openxmlformats.org/officeDocument/2006/relationships/font" Target="fonts/Oswald-regular.fntdata"/><Relationship Id="rId23" Type="http://schemas.openxmlformats.org/officeDocument/2006/relationships/slide" Target="slides/slide17.xml"/><Relationship Id="rId45" Type="http://schemas.openxmlformats.org/officeDocument/2006/relationships/font" Target="fonts/Montserrat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Oswald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Montserrat-bold.fntdata"/><Relationship Id="rId14" Type="http://schemas.openxmlformats.org/officeDocument/2006/relationships/slide" Target="slides/slide8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1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e1246b3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6e1246b3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8b8bbf5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8b8bbf5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b8bbf5e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8b8bbf5e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b8bbf5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8b8bbf5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8b8bbf5e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8b8bbf5e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8b8bbf5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8b8bbf5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8b8bbf5e3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8b8bbf5e3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8b8bbf5e3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8b8bbf5e3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b8bbf5e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8b8bbf5e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8b8bbf5e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8b8bbf5e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8b8bbf5e3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8b8bbf5e3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8b8bbf5e3_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8b8bbf5e3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8b8bbf5e3_2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8b8bbf5e3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8b8bbf5e3_2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8b8bbf5e3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8b8bbf5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8b8bbf5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8b8bbf5e3_2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8b8bbf5e3_2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8b8bbf5e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8b8bbf5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8b8bbf5e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8b8bbf5e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8b8bbf5e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8b8bbf5e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8b8bbf5e3_7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8b8bbf5e3_7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8b8bbf5e3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8b8bbf5e3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8b8bbf5e3_3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8b8bbf5e3_3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8b8bbf5e3_3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8b8bbf5e3_3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8b8bbf5e3_7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8b8bbf5e3_7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8b8bbf5e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8b8bbf5e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8b8bbf5e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8b8bbf5e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8b8bbf5e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8b8bbf5e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8b8bbf5e3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8b8bbf5e3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1B0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4000"/>
              <a:buNone/>
              <a:defRPr sz="4000">
                <a:solidFill>
                  <a:srgbClr val="FBEFB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300"/>
              <a:buNone/>
              <a:defRPr>
                <a:solidFill>
                  <a:srgbClr val="FBEF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9EB5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416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001B0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2800"/>
              <a:buFont typeface="Montserrat"/>
              <a:buNone/>
              <a:defRPr sz="2800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Relationship Id="rId4" Type="http://schemas.openxmlformats.org/officeDocument/2006/relationships/image" Target="../media/image12.png"/><Relationship Id="rId11" Type="http://schemas.openxmlformats.org/officeDocument/2006/relationships/image" Target="../media/image3.jpg"/><Relationship Id="rId10" Type="http://schemas.openxmlformats.org/officeDocument/2006/relationships/image" Target="../media/image2.png"/><Relationship Id="rId12" Type="http://schemas.openxmlformats.org/officeDocument/2006/relationships/image" Target="../media/image4.jp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-UFtkjP46RWPTwHZWhow-QwpP5EUOKm_/view" TargetMode="External"/><Relationship Id="rId4" Type="http://schemas.openxmlformats.org/officeDocument/2006/relationships/image" Target="../media/image18.png"/><Relationship Id="rId10" Type="http://schemas.openxmlformats.org/officeDocument/2006/relationships/image" Target="../media/image32.png"/><Relationship Id="rId9" Type="http://schemas.openxmlformats.org/officeDocument/2006/relationships/hyperlink" Target="https://drive.google.com/file/d/1FclbMREAZGQwE7ziTk1ADKR6BVUd99xP/view" TargetMode="External"/><Relationship Id="rId5" Type="http://schemas.openxmlformats.org/officeDocument/2006/relationships/hyperlink" Target="https://drive.google.com/file/d/19rEoguZg3qxevuwdTqP7Ha6LkD_Rgy1G/view" TargetMode="External"/><Relationship Id="rId6" Type="http://schemas.openxmlformats.org/officeDocument/2006/relationships/image" Target="../media/image20.png"/><Relationship Id="rId7" Type="http://schemas.openxmlformats.org/officeDocument/2006/relationships/hyperlink" Target="https://drive.google.com/file/d/1prEzGGtf86F_IKGBZP1xdiJyr5rwdSBG/view" TargetMode="External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SG1M74vClwAUOjB3fkny8rm0YtoI4DSU/view" TargetMode="External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e0aBr337LcR7d6TwjydM-ebG_LZKoFgf/view" TargetMode="External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drive/u/1/folders/1JABhjvGIIXVG94rrkWurlTaZxnee8wa_" TargetMode="External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YJ8-jyjewqYnHYhBv2f7z-l6IrCKvJSs/view" TargetMode="External"/><Relationship Id="rId4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jXUHZgmTRQh7Av_4wsOZSMvpS_Wasdp0/view" TargetMode="External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Sl6HtEOGRvsbblC5ELsJrfHS1VToij6w/view" TargetMode="External"/><Relationship Id="rId4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file/d/1oe34kJx0lxFKzpI2p-an7ksEwrPw49Tg/view" TargetMode="External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file/d/1dGn2sJVktRghoztxBnOEdALotglde-wY/view" TargetMode="External"/><Relationship Id="rId4" Type="http://schemas.openxmlformats.org/officeDocument/2006/relationships/image" Target="../media/image37.png"/><Relationship Id="rId5" Type="http://schemas.openxmlformats.org/officeDocument/2006/relationships/hyperlink" Target="https://drive.google.com/file/d/1L29VrREtE06BBUw6oAkp_A_V83syp3d1/view" TargetMode="External"/><Relationship Id="rId6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rive.google.com/file/d/1HRdp4lNtl05ACyhQimxTKnQKgKZ21mPF/view" TargetMode="External"/><Relationship Id="rId4" Type="http://schemas.openxmlformats.org/officeDocument/2006/relationships/image" Target="../media/image44.png"/><Relationship Id="rId5" Type="http://schemas.openxmlformats.org/officeDocument/2006/relationships/hyperlink" Target="https://drive.google.com/file/d/1P5fbUgk0dm5u0VX_TkveN92dqjcdepxz/view" TargetMode="External"/><Relationship Id="rId6" Type="http://schemas.openxmlformats.org/officeDocument/2006/relationships/image" Target="../media/image53.png"/><Relationship Id="rId7" Type="http://schemas.openxmlformats.org/officeDocument/2006/relationships/hyperlink" Target="https://drive.google.com/file/d/1V9XTf1wF8WYh_S3cvuAUcOoQL5w_oPBt/view" TargetMode="External"/><Relationship Id="rId8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Relationship Id="rId4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gif"/><Relationship Id="rId4" Type="http://schemas.openxmlformats.org/officeDocument/2006/relationships/image" Target="../media/image54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jpg"/><Relationship Id="rId4" Type="http://schemas.openxmlformats.org/officeDocument/2006/relationships/image" Target="../media/image5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2073900" cy="8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NodeVet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794291" y="3157300"/>
            <a:ext cx="3445500" cy="17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Aranda Cárdenas, Catalina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Cruz 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Muñoz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, Ricardo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Santander Leal, Sebastián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Andrade Farias, Victor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Taller aplicado de programación 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001D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26/05/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13" title="Logo_NodeVet_Imag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213" y="963200"/>
            <a:ext cx="1933575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>
            <p:ph idx="1" type="subTitle"/>
          </p:nvPr>
        </p:nvSpPr>
        <p:spPr>
          <a:xfrm>
            <a:off x="3037600" y="3157300"/>
            <a:ext cx="1795500" cy="17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Integrantes: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Docente: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Asignatura: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Presentación: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121400" y="3277100"/>
            <a:ext cx="3510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00">
                <a:latin typeface="Oswald"/>
                <a:ea typeface="Oswald"/>
                <a:cs typeface="Oswald"/>
                <a:sym typeface="Oswald"/>
              </a:rPr>
              <a:t>Fase 2: </a:t>
            </a:r>
            <a:endParaRPr sz="2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00">
                <a:latin typeface="Oswald"/>
                <a:ea typeface="Oswald"/>
                <a:cs typeface="Oswald"/>
                <a:sym typeface="Oswald"/>
              </a:rPr>
              <a:t>Cimientos del software</a:t>
            </a:r>
            <a:endParaRPr sz="2400"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300" y="725500"/>
            <a:ext cx="1963100" cy="23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Introducción: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250" y="1839200"/>
            <a:ext cx="3774976" cy="2058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5"/>
          <p:cNvGrpSpPr/>
          <p:nvPr/>
        </p:nvGrpSpPr>
        <p:grpSpPr>
          <a:xfrm>
            <a:off x="4083925" y="1455900"/>
            <a:ext cx="4944200" cy="2699025"/>
            <a:chOff x="4083925" y="1455900"/>
            <a:chExt cx="4944200" cy="2699025"/>
          </a:xfrm>
        </p:grpSpPr>
        <p:pic>
          <p:nvPicPr>
            <p:cNvPr id="152" name="Google Shape;15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925" y="1455900"/>
              <a:ext cx="4944200" cy="2699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5"/>
            <p:cNvSpPr/>
            <p:nvPr/>
          </p:nvSpPr>
          <p:spPr>
            <a:xfrm>
              <a:off x="8686375" y="3840550"/>
              <a:ext cx="322200" cy="253800"/>
            </a:xfrm>
            <a:prstGeom prst="ellipse">
              <a:avLst/>
            </a:prstGeom>
            <a:solidFill>
              <a:srgbClr val="001B0D"/>
            </a:solidFill>
            <a:ln cap="flat" cmpd="sng" w="9525">
              <a:solidFill>
                <a:srgbClr val="001B0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C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ontexto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Necesito una imagen con el fondo color #001B0D, sobre un veterinario registrando datos de un paciente y otra del dueño de la mascota viendo en su teléfono la información de su mascota"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263" y="1307850"/>
            <a:ext cx="6173464" cy="34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Arquitectura del Software (N-Tier)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7" name="Google Shape;167;p17"/>
          <p:cNvCxnSpPr/>
          <p:nvPr/>
        </p:nvCxnSpPr>
        <p:spPr>
          <a:xfrm>
            <a:off x="2207550" y="24541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8" name="Google Shape;168;p17"/>
          <p:cNvGraphicFramePr/>
          <p:nvPr/>
        </p:nvGraphicFramePr>
        <p:xfrm>
          <a:off x="43565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{63E622D2-211B-4954-A749-5D0755CA9E99}</a:tableStyleId>
              </a:tblPr>
              <a:tblGrid>
                <a:gridCol w="2048575"/>
                <a:gridCol w="2087775"/>
                <a:gridCol w="2009375"/>
                <a:gridCol w="2048575"/>
              </a:tblGrid>
              <a:tr h="45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Capa de Presentación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(Frontend)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64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Capa de Lógica de Negocio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(Backend)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64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Capa de Datos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(DataBase)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64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Servicios Externos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(</a:t>
                      </a: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Gestión</a:t>
                      </a:r>
                      <a:r>
                        <a:rPr lang="es" sz="1200">
                          <a:solidFill>
                            <a:srgbClr val="FBEFBA"/>
                          </a:solidFill>
                        </a:rPr>
                        <a:t> Externa)</a:t>
                      </a:r>
                      <a:endParaRPr sz="1200">
                        <a:solidFill>
                          <a:srgbClr val="FBEFBA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6428"/>
                    </a:solidFill>
                  </a:tcPr>
                </a:tc>
              </a:tr>
              <a:tr h="30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B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69" name="Google Shape;169;p17" title="1702308556161040709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12" y="3335500"/>
            <a:ext cx="1674488" cy="91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3900" y="2097223"/>
            <a:ext cx="633727" cy="53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2600" y="2097227"/>
            <a:ext cx="530970" cy="530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title="imag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3827" y="2627776"/>
            <a:ext cx="1491223" cy="101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title="2b53bb52-3256-4cdb-860b-cbe896427ae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5800" y="1946975"/>
            <a:ext cx="1014251" cy="101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title="images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51175" y="3335500"/>
            <a:ext cx="763500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title="descarga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6772" y="3063472"/>
            <a:ext cx="530975" cy="53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1280700" y="2872125"/>
            <a:ext cx="710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App Web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254300" y="4173000"/>
            <a:ext cx="76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App </a:t>
            </a: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Móvil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627775" y="3473775"/>
            <a:ext cx="1804200" cy="11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17" title="jwt-io-ligh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77062" y="3773425"/>
            <a:ext cx="530975" cy="5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title="images (1)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39313" y="3773413"/>
            <a:ext cx="530975" cy="53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3141925" y="3473775"/>
            <a:ext cx="76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Seguridad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2815425" y="4304400"/>
            <a:ext cx="470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JWT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3717722" y="4304400"/>
            <a:ext cx="574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BCript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733963" y="2627775"/>
            <a:ext cx="633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Java 21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3470775" y="2627775"/>
            <a:ext cx="95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Spring Boot 3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7190575" y="4066200"/>
            <a:ext cx="884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SMTP</a:t>
            </a: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 Gmail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887275" y="2872138"/>
            <a:ext cx="1491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Imágenes</a:t>
            </a:r>
            <a:r>
              <a:rPr lang="es" sz="8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 Usuarios/Mascotas</a:t>
            </a:r>
            <a:endParaRPr sz="7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5096087" y="3773425"/>
            <a:ext cx="986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rPr>
              <a:t>Base de Datos</a:t>
            </a:r>
            <a:endParaRPr sz="900">
              <a:solidFill>
                <a:srgbClr val="001B0D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9" name="Google Shape;189;p17" title="7955403809571918197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5325" y="2238348"/>
            <a:ext cx="1221450" cy="6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1297500" y="393750"/>
            <a:ext cx="14208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Tecnologías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1456638" y="4231950"/>
            <a:ext cx="2082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8"/>
          <p:cNvSpPr txBox="1"/>
          <p:nvPr>
            <p:ph idx="1" type="body"/>
          </p:nvPr>
        </p:nvSpPr>
        <p:spPr>
          <a:xfrm>
            <a:off x="5605050" y="4231950"/>
            <a:ext cx="2082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Datos e infraestructura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175" y="2746713"/>
            <a:ext cx="1617225" cy="135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5250" y="2967900"/>
            <a:ext cx="1521876" cy="91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0287" y="1261475"/>
            <a:ext cx="1355024" cy="135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7597" y="1561090"/>
            <a:ext cx="1617226" cy="75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28950" y="1216725"/>
            <a:ext cx="1355025" cy="13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title="jwt-io-ligh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0086" y="3014375"/>
            <a:ext cx="1132750" cy="11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1352300" y="527050"/>
            <a:ext cx="4986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Lenguajes: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3060" y="1697510"/>
            <a:ext cx="2724275" cy="24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657575"/>
            <a:ext cx="2724276" cy="2503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0"/>
          <p:cNvSpPr txBox="1"/>
          <p:nvPr>
            <p:ph type="title"/>
          </p:nvPr>
        </p:nvSpPr>
        <p:spPr>
          <a:xfrm>
            <a:off x="1352300" y="527050"/>
            <a:ext cx="5679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F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rameworks, bibliotecas y entorno de ejecución (Web):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662" y="1719100"/>
            <a:ext cx="1521875" cy="146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4850" y="3464020"/>
            <a:ext cx="2099500" cy="85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588987"/>
            <a:ext cx="1727200" cy="172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5825" y="3316203"/>
            <a:ext cx="2399549" cy="1434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type="title"/>
          </p:nvPr>
        </p:nvSpPr>
        <p:spPr>
          <a:xfrm>
            <a:off x="1352300" y="527050"/>
            <a:ext cx="4986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Frameworks y bibliotecas (Móvil):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27" name="Google Shape;227;p21"/>
          <p:cNvGraphicFramePr/>
          <p:nvPr/>
        </p:nvGraphicFramePr>
        <p:xfrm>
          <a:off x="540175" y="208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{63E622D2-211B-4954-A749-5D0755CA9E99}</a:tableStyleId>
              </a:tblPr>
              <a:tblGrid>
                <a:gridCol w="1936300"/>
                <a:gridCol w="1130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React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 19.2.5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React DOM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 19.2.5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React Icons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  5.6.0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React Easy Crop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  5.5.7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React Router DOM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  7.14.2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1"/>
          <p:cNvSpPr txBox="1"/>
          <p:nvPr>
            <p:ph idx="1" type="body"/>
          </p:nvPr>
        </p:nvSpPr>
        <p:spPr>
          <a:xfrm>
            <a:off x="1032338" y="1635125"/>
            <a:ext cx="2082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Bibliotecas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1"/>
          <p:cNvSpPr txBox="1"/>
          <p:nvPr>
            <p:ph idx="1" type="body"/>
          </p:nvPr>
        </p:nvSpPr>
        <p:spPr>
          <a:xfrm>
            <a:off x="5244575" y="1719325"/>
            <a:ext cx="2082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Otros 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0" name="Google Shape;230;p21"/>
          <p:cNvGraphicFramePr/>
          <p:nvPr/>
        </p:nvGraphicFramePr>
        <p:xfrm>
          <a:off x="3967625" y="218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{63E622D2-211B-4954-A749-5D0755CA9E99}</a:tableStyleId>
              </a:tblPr>
              <a:tblGrid>
                <a:gridCol w="1086775"/>
                <a:gridCol w="865875"/>
                <a:gridCol w="268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Vite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8.0.10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Bundler y serv. de desarrollo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TypeScript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6.0.2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Herramienta de tipado estático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Babel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7.29.0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Transpilador de código (JS)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ESLint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 10.2.1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Tool Análisis de código estático (Linter)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164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B57E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21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Diagrama de actividades: (Tutor - CRUD mascota)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8" name="Google Shape;238;p2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0526" y="1020456"/>
            <a:ext cx="2022150" cy="1632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3600" y="995025"/>
            <a:ext cx="1687889" cy="193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251" y="2809075"/>
            <a:ext cx="1954689" cy="212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46477" y="2999500"/>
            <a:ext cx="2022146" cy="19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/>
          <p:nvPr/>
        </p:nvSpPr>
        <p:spPr>
          <a:xfrm>
            <a:off x="8727185" y="4296590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Diagrama de componentes - Vista de despliegue: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9" name="Google Shape;249;p2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6200" y="924900"/>
            <a:ext cx="4032250" cy="402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Diagrama de clases - Vista lógica: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6" name="Google Shape;256;p2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438" y="952000"/>
            <a:ext cx="2905125" cy="411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Modelo Relacional de la Base de Datos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3" name="Google Shape;263;p25" title="Modelamiento de datos.drawio (1)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00" y="920750"/>
            <a:ext cx="8148398" cy="41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Diagrama de despliegue - Vista física: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69" name="Google Shape;269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69800"/>
            <a:ext cx="8839204" cy="167461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Wireframes Web: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662000" y="2287650"/>
            <a:ext cx="28431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Flujo de inicio de sesión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78" name="Google Shape;278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4775" y="1041125"/>
            <a:ext cx="4457735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Wireframes Web: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5" name="Google Shape;285;p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0675" y="130601"/>
            <a:ext cx="3428375" cy="488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>
            <p:ph type="title"/>
          </p:nvPr>
        </p:nvSpPr>
        <p:spPr>
          <a:xfrm>
            <a:off x="916500" y="2287650"/>
            <a:ext cx="25887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Flujo administrador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Wireframes Web: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8754610" y="4744227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29"/>
          <p:cNvSpPr txBox="1"/>
          <p:nvPr>
            <p:ph type="title"/>
          </p:nvPr>
        </p:nvSpPr>
        <p:spPr>
          <a:xfrm>
            <a:off x="916500" y="2287650"/>
            <a:ext cx="25887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Flujo CRUD mascotas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94" name="Google Shape;294;p2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200" y="1022100"/>
            <a:ext cx="466219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1297506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Wireframes Móvil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30"/>
          <p:cNvSpPr txBox="1"/>
          <p:nvPr>
            <p:ph idx="1" type="body"/>
          </p:nvPr>
        </p:nvSpPr>
        <p:spPr>
          <a:xfrm>
            <a:off x="1442782" y="967951"/>
            <a:ext cx="2112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775" lIns="129775" spcFirstLastPara="1" rIns="129775" wrap="square" tIns="1297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703"/>
              </a:spcAft>
              <a:buSzPts val="1445"/>
              <a:buNone/>
            </a:pPr>
            <a:r>
              <a:rPr lang="es" sz="1849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Mascotas</a:t>
            </a:r>
            <a:endParaRPr sz="1849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30" title="Mascotas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00" y="1530275"/>
            <a:ext cx="4772997" cy="332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 title="Agendamiento.pn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9151" y="145126"/>
            <a:ext cx="3606977" cy="3827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>
            <p:ph idx="1" type="body"/>
          </p:nvPr>
        </p:nvSpPr>
        <p:spPr>
          <a:xfrm>
            <a:off x="6422812" y="4081126"/>
            <a:ext cx="2112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775" lIns="129775" spcFirstLastPara="1" rIns="129775" wrap="square" tIns="1297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703"/>
              </a:spcAft>
              <a:buSzPts val="1445"/>
              <a:buNone/>
            </a:pPr>
            <a:r>
              <a:rPr lang="es" sz="1849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Agendamiento:</a:t>
            </a:r>
            <a:endParaRPr sz="1849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365300" y="2697800"/>
            <a:ext cx="3408900" cy="7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Diagrama de c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asos de uso: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p3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525" y="270725"/>
            <a:ext cx="2770899" cy="23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2925" y="270725"/>
            <a:ext cx="3064513" cy="234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63993" y="2869600"/>
            <a:ext cx="3324156" cy="214148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1"/>
          <p:cNvSpPr/>
          <p:nvPr/>
        </p:nvSpPr>
        <p:spPr>
          <a:xfrm>
            <a:off x="8365235" y="4744265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Metodología de trabajo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1" name="Google Shape;321;p32"/>
          <p:cNvGrpSpPr/>
          <p:nvPr/>
        </p:nvGrpSpPr>
        <p:grpSpPr>
          <a:xfrm>
            <a:off x="2582275" y="938275"/>
            <a:ext cx="3979451" cy="3979451"/>
            <a:chOff x="2582275" y="938275"/>
            <a:chExt cx="3979451" cy="3979451"/>
          </a:xfrm>
        </p:grpSpPr>
        <p:pic>
          <p:nvPicPr>
            <p:cNvPr id="322" name="Google Shape;322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82275" y="938275"/>
              <a:ext cx="3979451" cy="3979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32"/>
            <p:cNvSpPr/>
            <p:nvPr/>
          </p:nvSpPr>
          <p:spPr>
            <a:xfrm>
              <a:off x="6190175" y="4427225"/>
              <a:ext cx="267900" cy="399300"/>
            </a:xfrm>
            <a:prstGeom prst="rect">
              <a:avLst/>
            </a:prstGeom>
            <a:solidFill>
              <a:srgbClr val="041F10"/>
            </a:solidFill>
            <a:ln cap="flat" cmpd="sng" w="9525">
              <a:solidFill>
                <a:srgbClr val="041F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Estado de avance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0" name="Google Shape;3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00" y="1474350"/>
            <a:ext cx="1721250" cy="27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2838" y="1474350"/>
            <a:ext cx="1721250" cy="50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838" y="2142050"/>
            <a:ext cx="1721250" cy="2292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9550" y="456862"/>
            <a:ext cx="1721250" cy="4229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9996" y="2251125"/>
            <a:ext cx="1721250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08775" y="275624"/>
            <a:ext cx="1721250" cy="459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Seguridad de la Información y Mitigación de Riesgos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2" name="Google Shape;342;p34" title="images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250" y="3255225"/>
            <a:ext cx="1441350" cy="14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4" title="jwt-io-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7002" y="1242725"/>
            <a:ext cx="1441356" cy="144139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2809875" y="1242675"/>
            <a:ext cx="57705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Autenticación "Stateless": Gestión de sesiones segura sin saturar la memoria del servidor.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Renovación Automática (Refresh Token): El filtro intercepta peticiones válidas y envía un nuevo token en las cabeceras para evitar desconexiones abruptas.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Expiración Dinámica: Tokens configurados para durar 8 horas en la Web y 30 días en la App Móvil.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2783125" y="3175000"/>
            <a:ext cx="57705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Hashing Unidireccional: Las contraseñas jamás se almacenan en texto plano en la base de datos.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Resistencia a Ataques: Uso de "Salt" aleatorio dinámico y factor de costo adaptativo para mitigar ataques de fuerza bruta y diccionario.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Cumplimiento Legal: Arquitectura alineada con la Ley N° 19.628 (Protección de la Vida Privada).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Validación Operativa y Documentación de la API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800" y="498038"/>
            <a:ext cx="2147374" cy="34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999" y="1083325"/>
            <a:ext cx="2250625" cy="386807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3778250" y="1238250"/>
            <a:ext cx="4857600" cy="1952700"/>
          </a:xfrm>
          <a:prstGeom prst="roundRect">
            <a:avLst>
              <a:gd fmla="val 16667" name="adj"/>
            </a:avLst>
          </a:prstGeom>
          <a:solidFill>
            <a:srgbClr val="416428"/>
          </a:solidFill>
          <a:ln cap="flat" cmpd="sng" w="9525">
            <a:solidFill>
              <a:srgbClr val="FBE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Validación Operativa: </a:t>
            </a:r>
            <a:r>
              <a:rPr b="1"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Swagger UI</a:t>
            </a:r>
            <a:endParaRPr b="1"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200"/>
              <a:buFont typeface="Lato"/>
              <a:buChar char="●"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Documentación Viva: Interfaz gráfica que mapea toda nuestra API.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200"/>
              <a:buFont typeface="Lato"/>
              <a:buChar char="●"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Pruebas Reales: Verificación de respuestas exitosas (HTTP 200 OK) en Login y otras rutas.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200"/>
              <a:buFont typeface="Lato"/>
              <a:buChar char="●"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Simulación JWT: Inyección del token para probar el acceso a rutas protegidas.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200"/>
              <a:buFont typeface="Lato"/>
              <a:buChar char="●"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Bloqueo de Intrusos: Confirmación visual de que el sistema rechaza accesos sin token (HTTP 401 Unauthorized).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4067900" y="3494075"/>
            <a:ext cx="4278300" cy="1363800"/>
          </a:xfrm>
          <a:prstGeom prst="roundRect">
            <a:avLst>
              <a:gd fmla="val 16667" name="adj"/>
            </a:avLst>
          </a:prstGeom>
          <a:solidFill>
            <a:srgbClr val="416428"/>
          </a:solidFill>
          <a:ln cap="flat" cmpd="sng" w="9525">
            <a:solidFill>
              <a:srgbClr val="FBE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Pruebas Automatizadas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200"/>
              <a:buFont typeface="Lato"/>
              <a:buChar char="●"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Filtro de Calidad: Ejecución de tests automáticos con JUnit al compilar el código.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BEFBA"/>
              </a:buClr>
              <a:buSzPts val="1200"/>
              <a:buFont typeface="Lato"/>
              <a:buChar char="●"/>
            </a:pPr>
            <a:r>
              <a:rPr lang="es" sz="1200">
                <a:solidFill>
                  <a:srgbClr val="FBEFBA"/>
                </a:solidFill>
                <a:latin typeface="Lato"/>
                <a:ea typeface="Lato"/>
                <a:cs typeface="Lato"/>
                <a:sym typeface="Lato"/>
              </a:rPr>
              <a:t>Aislamiento de Datos: Uso de una base de datos efímera en memoria (H2) para probar sin alterar los registros reales.</a:t>
            </a:r>
            <a:endParaRPr sz="1200">
              <a:solidFill>
                <a:srgbClr val="FBEFB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2882100" y="1738650"/>
            <a:ext cx="3379800" cy="16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9000">
                <a:latin typeface="Oswald"/>
                <a:ea typeface="Oswald"/>
                <a:cs typeface="Oswald"/>
                <a:sym typeface="Oswald"/>
              </a:rPr>
              <a:t>INCISO</a:t>
            </a:r>
            <a:endParaRPr sz="90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Entregables hasta la fecha: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6" name="Google Shape;366;p37"/>
          <p:cNvSpPr txBox="1"/>
          <p:nvPr>
            <p:ph idx="1" type="body"/>
          </p:nvPr>
        </p:nvSpPr>
        <p:spPr>
          <a:xfrm>
            <a:off x="1424900" y="1420238"/>
            <a:ext cx="936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Etapa 1: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7"/>
          <p:cNvSpPr txBox="1"/>
          <p:nvPr>
            <p:ph idx="1" type="body"/>
          </p:nvPr>
        </p:nvSpPr>
        <p:spPr>
          <a:xfrm>
            <a:off x="1473949" y="2997513"/>
            <a:ext cx="838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Etapa 2: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8" name="Google Shape;368;p37" title="estados-uni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838" y="1829962"/>
            <a:ext cx="5810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7"/>
          <p:cNvSpPr txBox="1"/>
          <p:nvPr/>
        </p:nvSpPr>
        <p:spPr>
          <a:xfrm>
            <a:off x="2361800" y="1462113"/>
            <a:ext cx="29040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Acta de constitución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Estado del arte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Cronograma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Definición de la arquitectura (N-Tier)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Requisitos Funcionales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Requisitos No funcionales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0" name="Google Shape;370;p37"/>
          <p:cNvSpPr txBox="1"/>
          <p:nvPr/>
        </p:nvSpPr>
        <p:spPr>
          <a:xfrm>
            <a:off x="2361800" y="3090450"/>
            <a:ext cx="37404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Wireframes web y móvil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Modelo 4+1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Versión temprana del software con la vista del tutor (Gestión de mascotas y cuenta)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1" name="Google Shape;371;p37" title="programm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4650" y="3365362"/>
            <a:ext cx="5810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7"/>
          <p:cNvSpPr/>
          <p:nvPr/>
        </p:nvSpPr>
        <p:spPr>
          <a:xfrm>
            <a:off x="8754549" y="4744226"/>
            <a:ext cx="389448" cy="399276"/>
          </a:xfrm>
          <a:prstGeom prst="clou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Entregable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s futuros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1297500" y="1489938"/>
            <a:ext cx="936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Etapa 3: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1297500" y="3067225"/>
            <a:ext cx="8880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303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rPr>
              <a:t>Etapa 4:</a:t>
            </a:r>
            <a:endParaRPr sz="1303">
              <a:solidFill>
                <a:srgbClr val="FBEF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2185500" y="1658200"/>
            <a:ext cx="42384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Flujo de agendamiento integrado + plataforma de pago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Vistas finalizadas de Tutor, Administrador y Veterinario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Documentación faltante o corregida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2" name="Google Shape;382;p38"/>
          <p:cNvSpPr txBox="1"/>
          <p:nvPr/>
        </p:nvSpPr>
        <p:spPr>
          <a:xfrm>
            <a:off x="2234400" y="3203225"/>
            <a:ext cx="42384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Ambiente de pruebas funcional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Documentación completa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Entrega de la web y app funcional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3" name="Google Shape;383;p38" title="programm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988" y="1859562"/>
            <a:ext cx="5810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 title="troph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990" y="3436825"/>
            <a:ext cx="581025" cy="58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Cronograma</a:t>
            </a:r>
            <a:r>
              <a:rPr lang="es">
                <a:latin typeface="Oswald"/>
                <a:ea typeface="Oswald"/>
                <a:cs typeface="Oswald"/>
                <a:sym typeface="Oswald"/>
              </a:rPr>
              <a:t>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90" name="Google Shape;390;p39"/>
          <p:cNvGrpSpPr/>
          <p:nvPr/>
        </p:nvGrpSpPr>
        <p:grpSpPr>
          <a:xfrm>
            <a:off x="259275" y="1799275"/>
            <a:ext cx="8625425" cy="2224641"/>
            <a:chOff x="253175" y="1930975"/>
            <a:chExt cx="8625425" cy="2224641"/>
          </a:xfrm>
        </p:grpSpPr>
        <p:sp>
          <p:nvSpPr>
            <p:cNvPr id="391" name="Google Shape;391;p39"/>
            <p:cNvSpPr/>
            <p:nvPr/>
          </p:nvSpPr>
          <p:spPr>
            <a:xfrm>
              <a:off x="643600" y="2836745"/>
              <a:ext cx="8235000" cy="413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16428"/>
            </a:solidFill>
            <a:ln cap="flat" cmpd="sng" w="38100">
              <a:solidFill>
                <a:srgbClr val="9EB5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4350" lIns="124350" spcFirstLastPara="1" rIns="124350" wrap="square" tIns="124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4"/>
                <a:buFont typeface="Arial"/>
                <a:buNone/>
              </a:pPr>
              <a:r>
                <a:t/>
              </a:r>
              <a:endParaRPr b="0" i="0" sz="1904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288350" y="2732941"/>
              <a:ext cx="735300" cy="636300"/>
            </a:xfrm>
            <a:prstGeom prst="ellipse">
              <a:avLst/>
            </a:prstGeom>
            <a:solidFill>
              <a:srgbClr val="416428"/>
            </a:solidFill>
            <a:ln cap="flat" cmpd="sng" w="38100">
              <a:solidFill>
                <a:srgbClr val="9EB5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4350" lIns="124350" spcFirstLastPara="1" rIns="124350" wrap="square" tIns="124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4"/>
                <a:buFont typeface="Arial"/>
                <a:buNone/>
              </a:pPr>
              <a:r>
                <a:rPr b="0" i="0" lang="es" sz="1604" u="none" cap="none" strike="noStrike">
                  <a:solidFill>
                    <a:srgbClr val="FBEFB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S1</a:t>
              </a:r>
              <a:endParaRPr b="0" i="0" sz="1604" u="none" cap="none" strike="noStrike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4893950" y="2732941"/>
              <a:ext cx="735300" cy="6363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4350" lIns="124350" spcFirstLastPara="1" rIns="124350" wrap="square" tIns="124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4"/>
                <a:buFont typeface="Arial"/>
                <a:buNone/>
              </a:pPr>
              <a:r>
                <a:rPr b="0" i="0" lang="es" sz="1604" u="none" cap="none" strike="noStrike">
                  <a:solidFill>
                    <a:srgbClr val="FBEFB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S3</a:t>
              </a:r>
              <a:endParaRPr b="0" i="0" sz="1604" u="none" cap="none" strike="noStrike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7157774" y="2732941"/>
              <a:ext cx="735300" cy="636300"/>
            </a:xfrm>
            <a:prstGeom prst="ellipse">
              <a:avLst/>
            </a:prstGeom>
            <a:solidFill>
              <a:srgbClr val="9E9E9E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4350" lIns="124350" spcFirstLastPara="1" rIns="124350" wrap="square" tIns="124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4"/>
                <a:buFont typeface="Arial"/>
                <a:buNone/>
              </a:pPr>
              <a:r>
                <a:rPr b="0" i="0" lang="es" sz="1604" u="none" cap="none" strike="noStrike">
                  <a:solidFill>
                    <a:srgbClr val="FBEFB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S4</a:t>
              </a:r>
              <a:endParaRPr b="0" i="0" sz="1604" u="none" cap="none" strike="noStrike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253175" y="1943466"/>
              <a:ext cx="2244300" cy="636300"/>
            </a:xfrm>
            <a:prstGeom prst="wedgeRoundRectCallout">
              <a:avLst>
                <a:gd fmla="val -26079" name="adj1"/>
                <a:gd fmla="val 67016" name="adj2"/>
                <a:gd fmla="val 0" name="adj3"/>
              </a:avLst>
            </a:prstGeom>
            <a:solidFill>
              <a:srgbClr val="FBEFBA"/>
            </a:solidFill>
            <a:ln cap="flat" cmpd="sng" w="38100">
              <a:solidFill>
                <a:srgbClr val="4164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rgbClr val="001B0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Seguridad y perfiles</a:t>
              </a:r>
              <a:endParaRPr b="1" i="0" sz="1500" u="none" cap="none" strike="noStrike">
                <a:solidFill>
                  <a:srgbClr val="001B0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1344250" y="3519316"/>
              <a:ext cx="2244300" cy="636300"/>
            </a:xfrm>
            <a:prstGeom prst="wedgeRoundRectCallout">
              <a:avLst>
                <a:gd fmla="val 21995" name="adj1"/>
                <a:gd fmla="val -67830" name="adj2"/>
                <a:gd fmla="val 0" name="adj3"/>
              </a:avLst>
            </a:prstGeom>
            <a:solidFill>
              <a:srgbClr val="FBEFBA"/>
            </a:solidFill>
            <a:ln cap="flat" cmpd="sng" w="38100">
              <a:solidFill>
                <a:srgbClr val="4164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rgbClr val="001B0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Gestión de mascotas y calendario</a:t>
              </a:r>
              <a:endParaRPr b="1" i="0" sz="1400" u="none" cap="none" strike="noStrike">
                <a:solidFill>
                  <a:srgbClr val="001B0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5883250" y="3519316"/>
              <a:ext cx="2244300" cy="636300"/>
            </a:xfrm>
            <a:prstGeom prst="wedgeRoundRectCallout">
              <a:avLst>
                <a:gd fmla="val 21995" name="adj1"/>
                <a:gd fmla="val -67830" name="adj2"/>
                <a:gd fmla="val 0" name="adj3"/>
              </a:avLst>
            </a:prstGeom>
            <a:solidFill>
              <a:srgbClr val="AAAAAA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rgbClr val="001B0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Portal médico y despliegue CI/CD</a:t>
              </a:r>
              <a:endParaRPr b="1" i="0" sz="1400" u="none" cap="none" strike="noStrike">
                <a:solidFill>
                  <a:srgbClr val="001B0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8" name="Google Shape;398;p39"/>
            <p:cNvSpPr/>
            <p:nvPr/>
          </p:nvSpPr>
          <p:spPr>
            <a:xfrm>
              <a:off x="4445925" y="1930975"/>
              <a:ext cx="2412000" cy="636300"/>
            </a:xfrm>
            <a:prstGeom prst="wedgeRoundRectCallout">
              <a:avLst>
                <a:gd fmla="val -16550" name="adj1"/>
                <a:gd fmla="val 66553" name="adj2"/>
                <a:gd fmla="val 0" name="adj3"/>
              </a:avLst>
            </a:prstGeom>
            <a:solidFill>
              <a:srgbClr val="9E9E9E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rgbClr val="001B0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Flujo crítico de agendamiento y pagos</a:t>
              </a:r>
              <a:endParaRPr b="1" i="0" sz="1400" u="none" cap="none" strike="noStrike">
                <a:solidFill>
                  <a:srgbClr val="001B0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9" name="Google Shape;399;p39"/>
            <p:cNvSpPr/>
            <p:nvPr/>
          </p:nvSpPr>
          <p:spPr>
            <a:xfrm>
              <a:off x="2630100" y="2732941"/>
              <a:ext cx="735300" cy="636300"/>
            </a:xfrm>
            <a:prstGeom prst="ellipse">
              <a:avLst/>
            </a:prstGeom>
            <a:solidFill>
              <a:srgbClr val="416428"/>
            </a:solidFill>
            <a:ln cap="flat" cmpd="sng" w="38100">
              <a:solidFill>
                <a:srgbClr val="9EB5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4350" lIns="124350" spcFirstLastPara="1" rIns="124350" wrap="square" tIns="124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4"/>
                <a:buFont typeface="Arial"/>
                <a:buNone/>
              </a:pPr>
              <a:r>
                <a:rPr b="0" i="0" lang="es" sz="1604" u="none" cap="none" strike="noStrike">
                  <a:solidFill>
                    <a:srgbClr val="FBEFB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S2</a:t>
              </a:r>
              <a:endParaRPr b="0" i="0" sz="1604" u="none" cap="none" strike="noStrike">
                <a:solidFill>
                  <a:srgbClr val="FBEFB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descr="a green check mark with a white background (proporcionado por Tenor)" id="400" name="Google Shape;4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775" y="1713550"/>
            <a:ext cx="534249" cy="48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heck mark with a white background (proporcionado por Tenor)" id="401" name="Google Shape;4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100" y="3204200"/>
            <a:ext cx="534249" cy="48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cross on a white background that looks like a x (proporcionado por Tenor)" id="402" name="Google Shape;40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115250" y="3688025"/>
            <a:ext cx="287850" cy="2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9"/>
          <p:cNvSpPr/>
          <p:nvPr/>
        </p:nvSpPr>
        <p:spPr>
          <a:xfrm>
            <a:off x="8754610" y="4744215"/>
            <a:ext cx="389394" cy="399276"/>
          </a:xfrm>
          <a:prstGeom prst="lightningBol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Logros y problemas: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Businessman walks up goals (proporcionado por Getty Images)" id="409" name="Google Shape;4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675" y="1806275"/>
            <a:ext cx="3589775" cy="2392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 with question mark and two option for solving problem, guy with dilemma sitting (proporcionado por Getty Images)" id="410" name="Google Shape;41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3100" y="1805400"/>
            <a:ext cx="3589775" cy="2394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"/>
          <p:cNvSpPr txBox="1"/>
          <p:nvPr>
            <p:ph type="title"/>
          </p:nvPr>
        </p:nvSpPr>
        <p:spPr>
          <a:xfrm>
            <a:off x="1297500" y="393750"/>
            <a:ext cx="34728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swald"/>
                <a:ea typeface="Oswald"/>
                <a:cs typeface="Oswald"/>
                <a:sym typeface="Oswald"/>
              </a:rPr>
              <a:t>Conclusión: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Businesswoman decision to a way to success. (proporcionado por Getty Images)" id="416" name="Google Shape;4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050" y="1655550"/>
            <a:ext cx="3529876" cy="235267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1"/>
          <p:cNvSpPr/>
          <p:nvPr/>
        </p:nvSpPr>
        <p:spPr>
          <a:xfrm>
            <a:off x="8754625" y="4744250"/>
            <a:ext cx="389400" cy="399300"/>
          </a:xfrm>
          <a:prstGeom prst="sun">
            <a:avLst>
              <a:gd fmla="val 25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